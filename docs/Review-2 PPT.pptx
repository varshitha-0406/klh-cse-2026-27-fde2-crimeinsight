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40C2C8-CAA5-471C-984E-2AB791448F21}" v="54" dt="2026-08-25T19:17:13.6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8/26/2026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8/26/2026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8/26/2026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8/26/2026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8/26/2026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8/26/2026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8/26/2026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8/26/2026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sciencedirect.com/science/article/pii/S1877050920313417" TargetMode="External"/><Relationship Id="rId2" Type="http://schemas.openxmlformats.org/officeDocument/2006/relationships/hyperlink" Target="https://www.sciencedirect.com/science/article/pii/S187705091600106X?via%3Dihub" TargetMode="External"/><Relationship Id="rId1" Type="http://schemas.openxmlformats.org/officeDocument/2006/relationships/slideLayout" Target="../slideLayouts/slideLayout2.xml"/><Relationship Id="rId4" Type="http://schemas.openxmlformats.org/officeDocument/2006/relationships/hyperlink" Target="https://link.springer.com/article/10.1007/s11042-023-16188-x#citeas"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link.springer.com/article/10.1186/s42492-021-00075-z" TargetMode="External"/><Relationship Id="rId2" Type="http://schemas.openxmlformats.org/officeDocument/2006/relationships/hyperlink" Target="https://www.sciencedirect.com/science/article/abs/pii/S0198971522000333?utm_source=" TargetMode="External"/><Relationship Id="rId1" Type="http://schemas.openxmlformats.org/officeDocument/2006/relationships/slideLayout" Target="../slideLayouts/slideLayout2.xml"/><Relationship Id="rId4" Type="http://schemas.openxmlformats.org/officeDocument/2006/relationships/hyperlink" Target="https://www.sciencedirect.com/org/science/article/pii/S1546221822004477?utm_source="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link.springer.com/article/10.1186/s40163-020-00116-7#citeas" TargetMode="External"/><Relationship Id="rId2" Type="http://schemas.openxmlformats.org/officeDocument/2006/relationships/hyperlink" Target="https://www.sciencedirect.com/science/article/pii/S0306457322000115" TargetMode="External"/><Relationship Id="rId1" Type="http://schemas.openxmlformats.org/officeDocument/2006/relationships/slideLayout" Target="../slideLayouts/slideLayout2.xml"/><Relationship Id="rId5" Type="http://schemas.openxmlformats.org/officeDocument/2006/relationships/hyperlink" Target="https://www.sciencedirect.com/science/article/pii/S187705091830807X?utm_source" TargetMode="External"/><Relationship Id="rId4" Type="http://schemas.openxmlformats.org/officeDocument/2006/relationships/hyperlink" Target="https://www.sciencedirect.com/science/article/abs/pii/S2214785322007489?utm_source="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CCA304F-6E8D-1914-A717-0F56FFB07F10}"/>
              </a:ext>
            </a:extLst>
          </p:cNvPr>
          <p:cNvSpPr txBox="1"/>
          <p:nvPr/>
        </p:nvSpPr>
        <p:spPr>
          <a:xfrm>
            <a:off x="1278192" y="1175376"/>
            <a:ext cx="9871589" cy="1323439"/>
          </a:xfrm>
          <a:prstGeom prst="rect">
            <a:avLst/>
          </a:prstGeom>
          <a:noFill/>
        </p:spPr>
        <p:txBody>
          <a:bodyPr wrap="square">
            <a:spAutoFit/>
          </a:bodyPr>
          <a:lstStyle/>
          <a:p>
            <a:r>
              <a:rPr lang="en-IN" sz="4000" dirty="0" err="1">
                <a:latin typeface="Arial Rounded MT Bold" panose="020F0704030504030204" pitchFamily="34" charset="0"/>
              </a:rPr>
              <a:t>CrimeInsight</a:t>
            </a:r>
            <a:r>
              <a:rPr lang="en-IN" sz="4000" dirty="0">
                <a:latin typeface="Arial Rounded MT Bold" panose="020F0704030504030204" pitchFamily="34" charset="0"/>
              </a:rPr>
              <a:t>: Crime Data Pipeline and Business Intelligence System</a:t>
            </a:r>
            <a:endParaRPr lang="en-IN" sz="1100" dirty="0">
              <a:latin typeface="Arial Rounded MT Bold" panose="020F0704030504030204" pitchFamily="34" charset="0"/>
            </a:endParaRPr>
          </a:p>
        </p:txBody>
      </p:sp>
      <p:sp>
        <p:nvSpPr>
          <p:cNvPr id="7" name="TextBox 6">
            <a:extLst>
              <a:ext uri="{FF2B5EF4-FFF2-40B4-BE49-F238E27FC236}">
                <a16:creationId xmlns:a16="http://schemas.microsoft.com/office/drawing/2014/main" id="{F761DF13-29D4-E1A2-9B29-84DFCAD9AE95}"/>
              </a:ext>
            </a:extLst>
          </p:cNvPr>
          <p:cNvSpPr txBox="1"/>
          <p:nvPr/>
        </p:nvSpPr>
        <p:spPr>
          <a:xfrm>
            <a:off x="1592825" y="2498815"/>
            <a:ext cx="6096000" cy="400110"/>
          </a:xfrm>
          <a:prstGeom prst="rect">
            <a:avLst/>
          </a:prstGeom>
          <a:noFill/>
        </p:spPr>
        <p:txBody>
          <a:bodyPr wrap="square">
            <a:spAutoFit/>
          </a:bodyPr>
          <a:lstStyle/>
          <a:p>
            <a:r>
              <a:rPr lang="en-US" sz="2000" b="1" dirty="0">
                <a:solidFill>
                  <a:srgbClr val="000000"/>
                </a:solidFill>
                <a:latin typeface="Canva Sans Bold"/>
                <a:ea typeface="Canva Sans Bold"/>
                <a:cs typeface="Canva Sans Bold"/>
                <a:sym typeface="Canva Sans Bold"/>
              </a:rPr>
              <a:t>Team Members :</a:t>
            </a:r>
            <a:endParaRPr lang="en-IN" sz="2000" b="1" dirty="0">
              <a:solidFill>
                <a:srgbClr val="000000"/>
              </a:solidFill>
              <a:latin typeface="Canva Sans Bold"/>
              <a:ea typeface="Canva Sans Bold"/>
              <a:cs typeface="Canva Sans Bold"/>
              <a:sym typeface="Canva Sans Bold"/>
            </a:endParaRPr>
          </a:p>
        </p:txBody>
      </p:sp>
      <p:graphicFrame>
        <p:nvGraphicFramePr>
          <p:cNvPr id="11" name="Table 10">
            <a:extLst>
              <a:ext uri="{FF2B5EF4-FFF2-40B4-BE49-F238E27FC236}">
                <a16:creationId xmlns:a16="http://schemas.microsoft.com/office/drawing/2014/main" id="{CBA190B7-732A-3C8B-86C6-3CA0EC3DFC2F}"/>
              </a:ext>
            </a:extLst>
          </p:cNvPr>
          <p:cNvGraphicFramePr>
            <a:graphicFrameLocks noGrp="1"/>
          </p:cNvGraphicFramePr>
          <p:nvPr>
            <p:extLst>
              <p:ext uri="{D42A27DB-BD31-4B8C-83A1-F6EECF244321}">
                <p14:modId xmlns:p14="http://schemas.microsoft.com/office/powerpoint/2010/main" val="2883058604"/>
              </p:ext>
            </p:extLst>
          </p:nvPr>
        </p:nvGraphicFramePr>
        <p:xfrm>
          <a:off x="2497394" y="2897334"/>
          <a:ext cx="6705600" cy="3050097"/>
        </p:xfrm>
        <a:graphic>
          <a:graphicData uri="http://schemas.openxmlformats.org/drawingml/2006/table">
            <a:tbl>
              <a:tblPr/>
              <a:tblGrid>
                <a:gridCol w="945082">
                  <a:extLst>
                    <a:ext uri="{9D8B030D-6E8A-4147-A177-3AD203B41FA5}">
                      <a16:colId xmlns:a16="http://schemas.microsoft.com/office/drawing/2014/main" val="20000"/>
                    </a:ext>
                  </a:extLst>
                </a:gridCol>
                <a:gridCol w="3512215">
                  <a:extLst>
                    <a:ext uri="{9D8B030D-6E8A-4147-A177-3AD203B41FA5}">
                      <a16:colId xmlns:a16="http://schemas.microsoft.com/office/drawing/2014/main" val="20001"/>
                    </a:ext>
                  </a:extLst>
                </a:gridCol>
                <a:gridCol w="2248303">
                  <a:extLst>
                    <a:ext uri="{9D8B030D-6E8A-4147-A177-3AD203B41FA5}">
                      <a16:colId xmlns:a16="http://schemas.microsoft.com/office/drawing/2014/main" val="20002"/>
                    </a:ext>
                  </a:extLst>
                </a:gridCol>
              </a:tblGrid>
              <a:tr h="615967">
                <a:tc>
                  <a:txBody>
                    <a:bodyPr/>
                    <a:lstStyle/>
                    <a:p>
                      <a:pPr algn="ctr">
                        <a:lnSpc>
                          <a:spcPts val="2799"/>
                        </a:lnSpc>
                        <a:defRPr/>
                      </a:pPr>
                      <a:r>
                        <a:rPr lang="en-US" sz="1800" b="1">
                          <a:solidFill>
                            <a:srgbClr val="000000"/>
                          </a:solidFill>
                          <a:latin typeface="Lato Bold"/>
                          <a:ea typeface="Lato Bold"/>
                          <a:cs typeface="Lato Bold"/>
                          <a:sym typeface="Lato Bold"/>
                        </a:rPr>
                        <a:t>S.NO</a:t>
                      </a:r>
                      <a:endParaRPr lang="en-US" sz="105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b="1" dirty="0">
                          <a:solidFill>
                            <a:srgbClr val="000000"/>
                          </a:solidFill>
                          <a:latin typeface="Lato Bold"/>
                          <a:ea typeface="Lato Bold"/>
                          <a:cs typeface="Lato Bold"/>
                          <a:sym typeface="Lato Bold"/>
                        </a:rPr>
                        <a:t>NAME</a:t>
                      </a:r>
                      <a:endParaRPr lang="en-US" sz="105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b="1" dirty="0">
                          <a:solidFill>
                            <a:srgbClr val="000000"/>
                          </a:solidFill>
                          <a:latin typeface="Lato Bold"/>
                          <a:ea typeface="Lato Bold"/>
                          <a:cs typeface="Lato Bold"/>
                          <a:sym typeface="Lato Bold"/>
                        </a:rPr>
                        <a:t>ROLL NUMBER</a:t>
                      </a:r>
                      <a:endParaRPr lang="en-US" sz="105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89944">
                <a:tc>
                  <a:txBody>
                    <a:bodyPr/>
                    <a:lstStyle/>
                    <a:p>
                      <a:pPr algn="ctr">
                        <a:lnSpc>
                          <a:spcPts val="3499"/>
                        </a:lnSpc>
                        <a:defRPr/>
                      </a:pPr>
                      <a:r>
                        <a:rPr lang="en-US" sz="2400" dirty="0">
                          <a:solidFill>
                            <a:srgbClr val="000000"/>
                          </a:solidFill>
                          <a:latin typeface="Lato"/>
                          <a:ea typeface="Lato"/>
                          <a:cs typeface="Lato"/>
                          <a:sym typeface="Lato"/>
                        </a:rPr>
                        <a:t>1</a:t>
                      </a:r>
                      <a:endParaRPr lang="en-US" sz="105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IN" sz="1600" kern="1200" dirty="0" err="1">
                          <a:solidFill>
                            <a:schemeClr val="tx1"/>
                          </a:solidFill>
                          <a:effectLst/>
                          <a:latin typeface="+mn-lt"/>
                          <a:ea typeface="+mn-ea"/>
                          <a:cs typeface="+mn-cs"/>
                        </a:rPr>
                        <a:t>Anakala</a:t>
                      </a:r>
                      <a:r>
                        <a:rPr lang="en-IN" sz="1600" kern="1200" dirty="0">
                          <a:solidFill>
                            <a:schemeClr val="tx1"/>
                          </a:solidFill>
                          <a:effectLst/>
                          <a:latin typeface="+mn-lt"/>
                          <a:ea typeface="+mn-ea"/>
                          <a:cs typeface="+mn-cs"/>
                        </a:rPr>
                        <a:t> Sarayu</a:t>
                      </a:r>
                      <a:endParaRPr lang="en-US" sz="105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00" dirty="0">
                          <a:solidFill>
                            <a:srgbClr val="000000"/>
                          </a:solidFill>
                          <a:latin typeface="Lato"/>
                          <a:ea typeface="Lato"/>
                          <a:cs typeface="Lato"/>
                          <a:sym typeface="Lato"/>
                        </a:rPr>
                        <a:t>2420030249</a:t>
                      </a:r>
                      <a:endParaRPr lang="en-US" sz="105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89944">
                <a:tc>
                  <a:txBody>
                    <a:bodyPr/>
                    <a:lstStyle/>
                    <a:p>
                      <a:pPr algn="ctr">
                        <a:lnSpc>
                          <a:spcPts val="3499"/>
                        </a:lnSpc>
                        <a:defRPr/>
                      </a:pPr>
                      <a:r>
                        <a:rPr lang="en-US" sz="2400">
                          <a:solidFill>
                            <a:srgbClr val="000000"/>
                          </a:solidFill>
                          <a:latin typeface="Lato"/>
                          <a:ea typeface="Lato"/>
                          <a:cs typeface="Lato"/>
                          <a:sym typeface="Lato"/>
                        </a:rPr>
                        <a:t>2</a:t>
                      </a:r>
                      <a:endParaRPr lang="en-US" sz="105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IN" sz="1600" kern="1200" dirty="0">
                          <a:solidFill>
                            <a:schemeClr val="tx1"/>
                          </a:solidFill>
                          <a:effectLst/>
                          <a:latin typeface="+mn-lt"/>
                          <a:ea typeface="+mn-ea"/>
                          <a:cs typeface="+mn-cs"/>
                        </a:rPr>
                        <a:t>Manduri Varshitha</a:t>
                      </a:r>
                      <a:endParaRPr lang="en-US" sz="105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00" dirty="0">
                          <a:solidFill>
                            <a:srgbClr val="000000"/>
                          </a:solidFill>
                          <a:latin typeface="Lato"/>
                          <a:ea typeface="Lato"/>
                          <a:cs typeface="Lato"/>
                          <a:sym typeface="Lato"/>
                        </a:rPr>
                        <a:t>2420030269</a:t>
                      </a:r>
                      <a:endParaRPr lang="en-US" sz="105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89944">
                <a:tc>
                  <a:txBody>
                    <a:bodyPr/>
                    <a:lstStyle/>
                    <a:p>
                      <a:pPr algn="ctr">
                        <a:lnSpc>
                          <a:spcPts val="3499"/>
                        </a:lnSpc>
                        <a:defRPr/>
                      </a:pPr>
                      <a:r>
                        <a:rPr lang="en-US" sz="2400">
                          <a:solidFill>
                            <a:srgbClr val="000000"/>
                          </a:solidFill>
                          <a:latin typeface="Lato"/>
                          <a:ea typeface="Lato"/>
                          <a:cs typeface="Lato"/>
                          <a:sym typeface="Lato"/>
                        </a:rPr>
                        <a:t>3</a:t>
                      </a:r>
                      <a:endParaRPr lang="en-US" sz="105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IN" sz="1600" kern="1200" dirty="0" err="1">
                          <a:solidFill>
                            <a:schemeClr val="tx1"/>
                          </a:solidFill>
                          <a:effectLst/>
                          <a:latin typeface="+mn-lt"/>
                          <a:ea typeface="+mn-ea"/>
                          <a:cs typeface="+mn-cs"/>
                        </a:rPr>
                        <a:t>Nidumolu</a:t>
                      </a:r>
                      <a:r>
                        <a:rPr lang="en-IN" sz="1600" kern="1200" dirty="0">
                          <a:solidFill>
                            <a:schemeClr val="tx1"/>
                          </a:solidFill>
                          <a:effectLst/>
                          <a:latin typeface="+mn-lt"/>
                          <a:ea typeface="+mn-ea"/>
                          <a:cs typeface="+mn-cs"/>
                        </a:rPr>
                        <a:t> Veda Samhitha</a:t>
                      </a:r>
                      <a:endParaRPr lang="en-US" sz="105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00" dirty="0">
                          <a:solidFill>
                            <a:srgbClr val="000000"/>
                          </a:solidFill>
                          <a:latin typeface="Lato"/>
                          <a:ea typeface="Lato"/>
                          <a:cs typeface="Lato"/>
                          <a:sym typeface="Lato"/>
                        </a:rPr>
                        <a:t>2420030468</a:t>
                      </a:r>
                      <a:endParaRPr lang="en-US" sz="105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3" name="TextBox 12">
            <a:extLst>
              <a:ext uri="{FF2B5EF4-FFF2-40B4-BE49-F238E27FC236}">
                <a16:creationId xmlns:a16="http://schemas.microsoft.com/office/drawing/2014/main" id="{EBEDD176-E628-011E-2015-92E9FA7D750F}"/>
              </a:ext>
            </a:extLst>
          </p:cNvPr>
          <p:cNvSpPr txBox="1"/>
          <p:nvPr/>
        </p:nvSpPr>
        <p:spPr>
          <a:xfrm>
            <a:off x="1278192" y="6161284"/>
            <a:ext cx="6096000" cy="369332"/>
          </a:xfrm>
          <a:prstGeom prst="rect">
            <a:avLst/>
          </a:prstGeom>
          <a:noFill/>
        </p:spPr>
        <p:txBody>
          <a:bodyPr wrap="square">
            <a:spAutoFit/>
          </a:bodyPr>
          <a:lstStyle/>
          <a:p>
            <a:r>
              <a:rPr lang="en-US" sz="1800" b="1" dirty="0">
                <a:solidFill>
                  <a:srgbClr val="000000"/>
                </a:solidFill>
                <a:latin typeface="Canva Sans Bold"/>
                <a:ea typeface="Canva Sans Bold"/>
                <a:cs typeface="Canva Sans Bold"/>
                <a:sym typeface="Canva Sans Bold"/>
              </a:rPr>
              <a:t>Faculty Guide : Dr. N Sirisha </a:t>
            </a:r>
          </a:p>
        </p:txBody>
      </p:sp>
    </p:spTree>
    <p:extLst>
      <p:ext uri="{BB962C8B-B14F-4D97-AF65-F5344CB8AC3E}">
        <p14:creationId xmlns:p14="http://schemas.microsoft.com/office/powerpoint/2010/main" val="2689266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C2DFA6-B9DD-7474-C6B0-502B01252A44}"/>
              </a:ext>
            </a:extLst>
          </p:cNvPr>
          <p:cNvSpPr>
            <a:spLocks noGrp="1"/>
          </p:cNvSpPr>
          <p:nvPr>
            <p:ph idx="1"/>
          </p:nvPr>
        </p:nvSpPr>
        <p:spPr>
          <a:xfrm>
            <a:off x="4520381" y="3148780"/>
            <a:ext cx="2915265" cy="1804220"/>
          </a:xfrm>
        </p:spPr>
        <p:txBody>
          <a:bodyPr/>
          <a:lstStyle/>
          <a:p>
            <a:r>
              <a:rPr lang="en-IN" dirty="0"/>
              <a:t>Abstract</a:t>
            </a:r>
          </a:p>
          <a:p>
            <a:r>
              <a:rPr lang="en-IN" dirty="0"/>
              <a:t>Introduction 	</a:t>
            </a:r>
          </a:p>
          <a:p>
            <a:r>
              <a:rPr lang="en-IN" dirty="0"/>
              <a:t>Objectives</a:t>
            </a:r>
          </a:p>
          <a:p>
            <a:r>
              <a:rPr lang="en-IN" dirty="0"/>
              <a:t>Literature survey</a:t>
            </a:r>
          </a:p>
          <a:p>
            <a:endParaRPr lang="en-IN" dirty="0"/>
          </a:p>
        </p:txBody>
      </p:sp>
      <p:sp>
        <p:nvSpPr>
          <p:cNvPr id="5" name="TextBox 4">
            <a:extLst>
              <a:ext uri="{FF2B5EF4-FFF2-40B4-BE49-F238E27FC236}">
                <a16:creationId xmlns:a16="http://schemas.microsoft.com/office/drawing/2014/main" id="{6E0697AC-47E6-F107-745F-B45724980981}"/>
              </a:ext>
            </a:extLst>
          </p:cNvPr>
          <p:cNvSpPr txBox="1"/>
          <p:nvPr/>
        </p:nvSpPr>
        <p:spPr>
          <a:xfrm>
            <a:off x="4139382" y="1988091"/>
            <a:ext cx="6096000" cy="1015663"/>
          </a:xfrm>
          <a:prstGeom prst="rect">
            <a:avLst/>
          </a:prstGeom>
          <a:noFill/>
        </p:spPr>
        <p:txBody>
          <a:bodyPr wrap="square">
            <a:spAutoFit/>
          </a:bodyPr>
          <a:lstStyle/>
          <a:p>
            <a:r>
              <a:rPr lang="en-US" sz="6000" dirty="0">
                <a:latin typeface="Inter"/>
                <a:ea typeface="Inter"/>
                <a:cs typeface="Inter"/>
                <a:sym typeface="Inter"/>
              </a:rPr>
              <a:t>Overview</a:t>
            </a:r>
            <a:endParaRPr lang="en-IN" dirty="0"/>
          </a:p>
        </p:txBody>
      </p:sp>
    </p:spTree>
    <p:extLst>
      <p:ext uri="{BB962C8B-B14F-4D97-AF65-F5344CB8AC3E}">
        <p14:creationId xmlns:p14="http://schemas.microsoft.com/office/powerpoint/2010/main" val="1451085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FBC01-BDB8-D462-A0C9-B13B6C6035F6}"/>
              </a:ext>
            </a:extLst>
          </p:cNvPr>
          <p:cNvSpPr>
            <a:spLocks noGrp="1"/>
          </p:cNvSpPr>
          <p:nvPr>
            <p:ph type="title"/>
          </p:nvPr>
        </p:nvSpPr>
        <p:spPr>
          <a:xfrm>
            <a:off x="840657" y="0"/>
            <a:ext cx="2128684" cy="680884"/>
          </a:xfrm>
        </p:spPr>
        <p:txBody>
          <a:bodyPr>
            <a:normAutofit fontScale="90000"/>
          </a:bodyPr>
          <a:lstStyle/>
          <a:p>
            <a:r>
              <a:rPr lang="en-US" dirty="0">
                <a:solidFill>
                  <a:schemeClr val="tx1"/>
                </a:solidFill>
                <a:latin typeface="Aptos Display" panose="020B0004020202020204" pitchFamily="34" charset="0"/>
                <a:ea typeface="Inter"/>
                <a:cs typeface="Inter"/>
                <a:sym typeface="Inter"/>
              </a:rPr>
              <a:t>Abstract</a:t>
            </a:r>
            <a:endParaRPr lang="en-IN" sz="4800" dirty="0">
              <a:solidFill>
                <a:schemeClr val="tx1"/>
              </a:solidFill>
            </a:endParaRPr>
          </a:p>
        </p:txBody>
      </p:sp>
      <p:sp>
        <p:nvSpPr>
          <p:cNvPr id="8" name="TextBox 7">
            <a:extLst>
              <a:ext uri="{FF2B5EF4-FFF2-40B4-BE49-F238E27FC236}">
                <a16:creationId xmlns:a16="http://schemas.microsoft.com/office/drawing/2014/main" id="{445CE92B-1417-B1FC-BEAF-F415F5CF4355}"/>
              </a:ext>
            </a:extLst>
          </p:cNvPr>
          <p:cNvSpPr txBox="1"/>
          <p:nvPr/>
        </p:nvSpPr>
        <p:spPr>
          <a:xfrm>
            <a:off x="840657" y="474406"/>
            <a:ext cx="11213691" cy="7064498"/>
          </a:xfrm>
          <a:prstGeom prst="rect">
            <a:avLst/>
          </a:prstGeom>
          <a:noFill/>
        </p:spPr>
        <p:txBody>
          <a:bodyPr wrap="square" rtlCol="0">
            <a:spAutoFit/>
          </a:bodyPr>
          <a:lstStyle/>
          <a:p>
            <a:pPr algn="just">
              <a:lnSpc>
                <a:spcPct val="150000"/>
              </a:lnSpc>
            </a:pPr>
            <a:r>
              <a:rPr lang="en-IN" sz="1600" dirty="0" err="1"/>
              <a:t>CrimeInsight</a:t>
            </a:r>
            <a:r>
              <a:rPr lang="en-IN" sz="1600" dirty="0"/>
              <a:t> is a data engineering and business intelligence system designed to demonstrate the complete lifecycle of processing, storing, transforming, and analysing large-scale crime data. The system collects crime records from multiple source systems such as CSV files, open datasets, and simulated streaming sources, representing real-world heterogeneous data generation. A structured data architecture is designed to support reliable data ingestion, scalable storage, data </a:t>
            </a:r>
            <a:r>
              <a:rPr lang="en-IN" sz="1600" dirty="0" err="1"/>
              <a:t>modeling</a:t>
            </a:r>
            <a:r>
              <a:rPr lang="en-IN" sz="1600" dirty="0"/>
              <a:t>, transformation, and analytical processing.</a:t>
            </a:r>
          </a:p>
          <a:p>
            <a:pPr algn="just">
              <a:lnSpc>
                <a:spcPct val="150000"/>
              </a:lnSpc>
            </a:pPr>
            <a:r>
              <a:rPr lang="en-IN" sz="1600" dirty="0"/>
              <a:t>The project implements batch-based data ingestion to collect raw crime records and stores them in a raw data layer before applying validation, cleansing, deduplication, normalization, and transformation processes. The transformed data is </a:t>
            </a:r>
            <a:r>
              <a:rPr lang="en-IN" sz="1600" dirty="0" err="1"/>
              <a:t>modeled</a:t>
            </a:r>
            <a:r>
              <a:rPr lang="en-IN" sz="1600" dirty="0"/>
              <a:t> into structured datasets suitable for analytical workloads, following appropriate data </a:t>
            </a:r>
            <a:r>
              <a:rPr lang="en-IN" sz="1600" dirty="0" err="1"/>
              <a:t>modeling</a:t>
            </a:r>
            <a:r>
              <a:rPr lang="en-IN" sz="1600" dirty="0"/>
              <a:t> and storage principles. The pipeline demonstrates key data engineering considerations including data quality, schema consistency, scalability, fault tolerance, partitioning, and efficient storage.</a:t>
            </a:r>
          </a:p>
          <a:p>
            <a:pPr algn="just">
              <a:lnSpc>
                <a:spcPct val="150000"/>
              </a:lnSpc>
            </a:pPr>
            <a:r>
              <a:rPr lang="en-IN" sz="1600" dirty="0"/>
              <a:t>The processed data is then loaded into an analytical storage layer where business intelligence techniques are used to identify patterns such as crime frequency, geographic distribution, temporal trends, crime categories, and changes across different periods. Interactive dashboards and reports provide meaningful insights from the processed datasets. The project therefore demonstrates major stages of the Data Engineering Lifecycle, including source systems, data generation, ingestion, storage, data </a:t>
            </a:r>
            <a:r>
              <a:rPr lang="en-IN" sz="1600" dirty="0" err="1"/>
              <a:t>modeling</a:t>
            </a:r>
            <a:r>
              <a:rPr lang="en-IN" sz="1600" dirty="0"/>
              <a:t>, transformation, processing, and analytics. </a:t>
            </a:r>
            <a:r>
              <a:rPr lang="en-IN" sz="1600" dirty="0" err="1"/>
              <a:t>CrimeInsight</a:t>
            </a:r>
            <a:r>
              <a:rPr lang="en-IN" sz="1600" dirty="0"/>
              <a:t> provides a practical implementation of modern data engineering concepts while demonstrating how well-designed data pipelines can convert raw data into reliable and actionable information.</a:t>
            </a:r>
          </a:p>
          <a:p>
            <a:pPr algn="just">
              <a:lnSpc>
                <a:spcPct val="150000"/>
              </a:lnSpc>
            </a:pPr>
            <a:endParaRPr lang="en-IN" sz="1600" dirty="0"/>
          </a:p>
          <a:p>
            <a:pPr algn="just">
              <a:lnSpc>
                <a:spcPct val="150000"/>
              </a:lnSpc>
            </a:pPr>
            <a:endParaRPr lang="en-IN" sz="1600" dirty="0"/>
          </a:p>
        </p:txBody>
      </p:sp>
    </p:spTree>
    <p:extLst>
      <p:ext uri="{BB962C8B-B14F-4D97-AF65-F5344CB8AC3E}">
        <p14:creationId xmlns:p14="http://schemas.microsoft.com/office/powerpoint/2010/main" val="2054001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A2FAF-28C2-A67F-B26A-2F56EE8FFF11}"/>
              </a:ext>
            </a:extLst>
          </p:cNvPr>
          <p:cNvSpPr>
            <a:spLocks noGrp="1"/>
          </p:cNvSpPr>
          <p:nvPr>
            <p:ph type="title"/>
          </p:nvPr>
        </p:nvSpPr>
        <p:spPr>
          <a:xfrm>
            <a:off x="840658" y="0"/>
            <a:ext cx="3475703" cy="631723"/>
          </a:xfrm>
        </p:spPr>
        <p:txBody>
          <a:bodyPr>
            <a:normAutofit fontScale="90000"/>
          </a:bodyPr>
          <a:lstStyle/>
          <a:p>
            <a:r>
              <a:rPr lang="en-IN" dirty="0">
                <a:solidFill>
                  <a:schemeClr val="tx1"/>
                </a:solidFill>
                <a:latin typeface="Aptos Display" panose="020B0004020202020204" pitchFamily="34" charset="0"/>
                <a:ea typeface="Inter" panose="020B0604020202020204" charset="0"/>
              </a:rPr>
              <a:t>Introduction</a:t>
            </a:r>
            <a:endParaRPr lang="en-IN" sz="3600" dirty="0">
              <a:solidFill>
                <a:schemeClr val="tx1"/>
              </a:solidFill>
            </a:endParaRPr>
          </a:p>
        </p:txBody>
      </p:sp>
      <p:sp>
        <p:nvSpPr>
          <p:cNvPr id="4" name="TextBox 3">
            <a:extLst>
              <a:ext uri="{FF2B5EF4-FFF2-40B4-BE49-F238E27FC236}">
                <a16:creationId xmlns:a16="http://schemas.microsoft.com/office/drawing/2014/main" id="{443A4B73-94A9-59F0-3C0A-0707B19F7759}"/>
              </a:ext>
            </a:extLst>
          </p:cNvPr>
          <p:cNvSpPr txBox="1"/>
          <p:nvPr/>
        </p:nvSpPr>
        <p:spPr>
          <a:xfrm>
            <a:off x="840658" y="491613"/>
            <a:ext cx="11066207" cy="6924973"/>
          </a:xfrm>
          <a:prstGeom prst="rect">
            <a:avLst/>
          </a:prstGeom>
          <a:noFill/>
        </p:spPr>
        <p:txBody>
          <a:bodyPr wrap="square" rtlCol="0">
            <a:spAutoFit/>
          </a:bodyPr>
          <a:lstStyle/>
          <a:p>
            <a:pPr algn="just">
              <a:lnSpc>
                <a:spcPct val="170000"/>
              </a:lnSpc>
            </a:pPr>
            <a:r>
              <a:rPr lang="en-IN" sz="1600" dirty="0"/>
              <a:t>The rapid growth of digital reporting systems has led to the continuous generation of large and diverse volumes of crime-related data from multiple </a:t>
            </a:r>
            <a:r>
              <a:rPr lang="en-IN" sz="1600" dirty="0" err="1"/>
              <a:t>sources.These</a:t>
            </a:r>
            <a:r>
              <a:rPr lang="en-IN" sz="1600" dirty="0"/>
              <a:t> datasets may arrive in different formats and can contain missing values, duplicate records, inconsistent fields, and other data quality issues. Without a proper data engineering pipeline, processing such data efficiently and preparing it for analysis becomes difficult. Data engineering provides the architecture, tools, and processes required to collect, ingest, store, process, transform, and organize raw data into reliable information.</a:t>
            </a:r>
          </a:p>
          <a:p>
            <a:pPr algn="just">
              <a:lnSpc>
                <a:spcPct val="170000"/>
              </a:lnSpc>
            </a:pPr>
            <a:r>
              <a:rPr lang="en-IN" sz="1600" dirty="0" err="1"/>
              <a:t>CrimeInsight</a:t>
            </a:r>
            <a:r>
              <a:rPr lang="en-IN" sz="1600" dirty="0"/>
              <a:t> is an end-to-end data engineering and business intelligence system designed to process crime data and demonstrate the complete data engineering lifecycle. The system uses Python to generate and prepare realistic crime records, while Apache Kafka enables continuous ingestion of crime events into the data pipeline. PostgreSQL is used for reliable structured storage of operational and processed data, and Apache Spark performs data cleaning, validation, transformation, filtering, and aggregation. Apache Airflow orchestrates the different pipeline stages and automates scheduled data processing, while </a:t>
            </a:r>
            <a:r>
              <a:rPr lang="en-IN" sz="1600" dirty="0" err="1"/>
              <a:t>dbt</a:t>
            </a:r>
            <a:r>
              <a:rPr lang="en-IN" sz="1600" dirty="0"/>
              <a:t> is used to organize analytical transformations and data models. The processed data is finally connected to Power BI to create interactive dashboards for </a:t>
            </a:r>
            <a:r>
              <a:rPr lang="en-IN" sz="1600" dirty="0" err="1"/>
              <a:t>analyzing</a:t>
            </a:r>
            <a:r>
              <a:rPr lang="en-IN" sz="1600" dirty="0"/>
              <a:t> crime categories, temporal trends, geographic distributions, and other patterns. Docker is used to provide a consistent environment for the project components. The system brings together essential data engineering concepts including source systems, data generation, data architecture, storage systems, real-time and batch ingestion, data processing, data </a:t>
            </a:r>
            <a:r>
              <a:rPr lang="en-IN" sz="1600" dirty="0" err="1"/>
              <a:t>modeling</a:t>
            </a:r>
            <a:r>
              <a:rPr lang="en-IN" sz="1600" dirty="0"/>
              <a:t>, transformations, data quality, orchestration, and business intelligence.</a:t>
            </a:r>
          </a:p>
          <a:p>
            <a:pPr algn="just"/>
            <a:endParaRPr lang="en-IN" sz="1600" dirty="0"/>
          </a:p>
          <a:p>
            <a:pPr algn="just"/>
            <a:endParaRPr lang="en-IN" sz="1600" dirty="0"/>
          </a:p>
        </p:txBody>
      </p:sp>
    </p:spTree>
    <p:extLst>
      <p:ext uri="{BB962C8B-B14F-4D97-AF65-F5344CB8AC3E}">
        <p14:creationId xmlns:p14="http://schemas.microsoft.com/office/powerpoint/2010/main" val="953107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453F923-993D-FE08-3042-F0B8CEB3B6BF}"/>
              </a:ext>
            </a:extLst>
          </p:cNvPr>
          <p:cNvSpPr>
            <a:spLocks noGrp="1"/>
          </p:cNvSpPr>
          <p:nvPr>
            <p:ph type="title"/>
          </p:nvPr>
        </p:nvSpPr>
        <p:spPr>
          <a:xfrm>
            <a:off x="840656" y="0"/>
            <a:ext cx="2354827" cy="680884"/>
          </a:xfrm>
        </p:spPr>
        <p:txBody>
          <a:bodyPr>
            <a:normAutofit/>
          </a:bodyPr>
          <a:lstStyle/>
          <a:p>
            <a:r>
              <a:rPr lang="en-IN" sz="4000" dirty="0">
                <a:solidFill>
                  <a:schemeClr val="tx1"/>
                </a:solidFill>
              </a:rPr>
              <a:t>Objective</a:t>
            </a:r>
            <a:endParaRPr lang="en-IN" sz="4800" dirty="0">
              <a:solidFill>
                <a:schemeClr val="tx1"/>
              </a:solidFill>
            </a:endParaRPr>
          </a:p>
        </p:txBody>
      </p:sp>
      <p:sp>
        <p:nvSpPr>
          <p:cNvPr id="8" name="TextBox 7">
            <a:extLst>
              <a:ext uri="{FF2B5EF4-FFF2-40B4-BE49-F238E27FC236}">
                <a16:creationId xmlns:a16="http://schemas.microsoft.com/office/drawing/2014/main" id="{46E89FCF-CA9A-5482-5779-03D0E965F80B}"/>
              </a:ext>
            </a:extLst>
          </p:cNvPr>
          <p:cNvSpPr txBox="1"/>
          <p:nvPr/>
        </p:nvSpPr>
        <p:spPr>
          <a:xfrm>
            <a:off x="757082" y="582561"/>
            <a:ext cx="10461524" cy="5858527"/>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b="1" dirty="0"/>
              <a:t>To design and implement a complete data engineering pipeline</a:t>
            </a:r>
            <a:r>
              <a:rPr lang="en-IN" dirty="0"/>
              <a:t> for collecting, processing, storing, transforming, and analysing large-scale crime data. </a:t>
            </a:r>
          </a:p>
          <a:p>
            <a:pPr marL="342900" lvl="0" indent="-342900">
              <a:lnSpc>
                <a:spcPct val="150000"/>
              </a:lnSpc>
              <a:buFont typeface="Arial" panose="020B0604020202020204" pitchFamily="34" charset="0"/>
              <a:buChar char="•"/>
            </a:pPr>
            <a:r>
              <a:rPr lang="en-IN" b="1" dirty="0"/>
              <a:t>To collect crime data from multiple heterogeneous sources</a:t>
            </a:r>
            <a:r>
              <a:rPr lang="en-IN" dirty="0"/>
              <a:t> such as CSV files, open datasets, and simulated streaming sources. </a:t>
            </a:r>
          </a:p>
          <a:p>
            <a:pPr marL="342900" lvl="0" indent="-342900">
              <a:lnSpc>
                <a:spcPct val="150000"/>
              </a:lnSpc>
              <a:buFont typeface="Arial" panose="020B0604020202020204" pitchFamily="34" charset="0"/>
              <a:buChar char="•"/>
            </a:pPr>
            <a:r>
              <a:rPr lang="en-IN" b="1" dirty="0"/>
              <a:t>To implement reliable data ingestion mechanisms</a:t>
            </a:r>
            <a:r>
              <a:rPr lang="en-IN" dirty="0"/>
              <a:t> for efficiently transferring raw crime data into the data storage environment. </a:t>
            </a:r>
          </a:p>
          <a:p>
            <a:pPr marL="342900" lvl="0" indent="-342900">
              <a:lnSpc>
                <a:spcPct val="150000"/>
              </a:lnSpc>
              <a:buFont typeface="Arial" panose="020B0604020202020204" pitchFamily="34" charset="0"/>
              <a:buChar char="•"/>
            </a:pPr>
            <a:r>
              <a:rPr lang="en-IN" b="1" dirty="0"/>
              <a:t>To develop a raw data storage layer</a:t>
            </a:r>
            <a:r>
              <a:rPr lang="en-IN" dirty="0"/>
              <a:t> that preserves the original crime records before processing and transformation. </a:t>
            </a:r>
          </a:p>
          <a:p>
            <a:pPr marL="342900" lvl="0" indent="-342900">
              <a:lnSpc>
                <a:spcPct val="150000"/>
              </a:lnSpc>
              <a:buFont typeface="Arial" panose="020B0604020202020204" pitchFamily="34" charset="0"/>
              <a:buChar char="•"/>
            </a:pPr>
            <a:r>
              <a:rPr lang="en-IN" b="1" dirty="0"/>
              <a:t>To perform data cleaning and preprocessing</a:t>
            </a:r>
            <a:r>
              <a:rPr lang="en-IN" dirty="0"/>
              <a:t>, including validation, duplication, normalization, schema validation, and handling of inconsistent or missing data. </a:t>
            </a:r>
          </a:p>
          <a:p>
            <a:pPr marL="342900" lvl="0" indent="-342900">
              <a:lnSpc>
                <a:spcPct val="150000"/>
              </a:lnSpc>
              <a:buFont typeface="Arial" panose="020B0604020202020204" pitchFamily="34" charset="0"/>
              <a:buChar char="•"/>
            </a:pPr>
            <a:r>
              <a:rPr lang="en-IN" b="1" dirty="0"/>
              <a:t>To design an efficient data model and storage architecture</a:t>
            </a:r>
            <a:r>
              <a:rPr lang="en-IN" dirty="0"/>
              <a:t> that supports scalable analytical processing and efficient data retrieval. </a:t>
            </a:r>
          </a:p>
          <a:p>
            <a:pPr marL="342900" lvl="0" indent="-342900">
              <a:lnSpc>
                <a:spcPct val="150000"/>
              </a:lnSpc>
              <a:buFont typeface="Arial" panose="020B0604020202020204" pitchFamily="34" charset="0"/>
              <a:buChar char="•"/>
            </a:pPr>
            <a:r>
              <a:rPr lang="en-IN" b="1" dirty="0"/>
              <a:t>To implement data transformation and processing techniques</a:t>
            </a:r>
            <a:r>
              <a:rPr lang="en-IN" dirty="0"/>
              <a:t> to convert raw crime records into structured, analysis-ready datasets. </a:t>
            </a:r>
          </a:p>
        </p:txBody>
      </p:sp>
    </p:spTree>
    <p:extLst>
      <p:ext uri="{BB962C8B-B14F-4D97-AF65-F5344CB8AC3E}">
        <p14:creationId xmlns:p14="http://schemas.microsoft.com/office/powerpoint/2010/main" val="295571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40FC128-4D9F-B2F5-9100-DFA4BBD6F4D4}"/>
              </a:ext>
            </a:extLst>
          </p:cNvPr>
          <p:cNvGraphicFramePr>
            <a:graphicFrameLocks noGrp="1"/>
          </p:cNvGraphicFramePr>
          <p:nvPr>
            <p:extLst>
              <p:ext uri="{D42A27DB-BD31-4B8C-83A1-F6EECF244321}">
                <p14:modId xmlns:p14="http://schemas.microsoft.com/office/powerpoint/2010/main" val="117842468"/>
              </p:ext>
            </p:extLst>
          </p:nvPr>
        </p:nvGraphicFramePr>
        <p:xfrm>
          <a:off x="1173152" y="746022"/>
          <a:ext cx="10625556" cy="5365955"/>
        </p:xfrm>
        <a:graphic>
          <a:graphicData uri="http://schemas.openxmlformats.org/drawingml/2006/table">
            <a:tbl>
              <a:tblPr/>
              <a:tblGrid>
                <a:gridCol w="2219855">
                  <a:extLst>
                    <a:ext uri="{9D8B030D-6E8A-4147-A177-3AD203B41FA5}">
                      <a16:colId xmlns:a16="http://schemas.microsoft.com/office/drawing/2014/main" val="1399075416"/>
                    </a:ext>
                  </a:extLst>
                </a:gridCol>
                <a:gridCol w="2030368">
                  <a:extLst>
                    <a:ext uri="{9D8B030D-6E8A-4147-A177-3AD203B41FA5}">
                      <a16:colId xmlns:a16="http://schemas.microsoft.com/office/drawing/2014/main" val="3591117051"/>
                    </a:ext>
                  </a:extLst>
                </a:gridCol>
                <a:gridCol w="2125111">
                  <a:extLst>
                    <a:ext uri="{9D8B030D-6E8A-4147-A177-3AD203B41FA5}">
                      <a16:colId xmlns:a16="http://schemas.microsoft.com/office/drawing/2014/main" val="2610608315"/>
                    </a:ext>
                  </a:extLst>
                </a:gridCol>
                <a:gridCol w="2125111">
                  <a:extLst>
                    <a:ext uri="{9D8B030D-6E8A-4147-A177-3AD203B41FA5}">
                      <a16:colId xmlns:a16="http://schemas.microsoft.com/office/drawing/2014/main" val="208034176"/>
                    </a:ext>
                  </a:extLst>
                </a:gridCol>
                <a:gridCol w="2125111">
                  <a:extLst>
                    <a:ext uri="{9D8B030D-6E8A-4147-A177-3AD203B41FA5}">
                      <a16:colId xmlns:a16="http://schemas.microsoft.com/office/drawing/2014/main" val="94488662"/>
                    </a:ext>
                  </a:extLst>
                </a:gridCol>
              </a:tblGrid>
              <a:tr h="254963">
                <a:tc>
                  <a:txBody>
                    <a:bodyPr/>
                    <a:lstStyle/>
                    <a:p>
                      <a:pPr algn="ctr">
                        <a:buNone/>
                      </a:pPr>
                      <a:r>
                        <a:rPr lang="en-IN" sz="1200" b="1">
                          <a:solidFill>
                            <a:schemeClr val="accent3">
                              <a:lumMod val="50000"/>
                            </a:schemeClr>
                          </a:solidFill>
                        </a:rPr>
                        <a:t>Paper Ref</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a:solidFill>
                            <a:schemeClr val="accent3">
                              <a:lumMod val="50000"/>
                            </a:schemeClr>
                          </a:solidFill>
                        </a:rPr>
                        <a:t>Link</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a:solidFill>
                            <a:schemeClr val="accent3">
                              <a:lumMod val="50000"/>
                            </a:schemeClr>
                          </a:solidFill>
                        </a:rPr>
                        <a:t>Authors</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a:solidFill>
                            <a:schemeClr val="accent3">
                              <a:lumMod val="50000"/>
                            </a:schemeClr>
                          </a:solidFill>
                        </a:rPr>
                        <a:t>Drawback</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a:solidFill>
                            <a:schemeClr val="accent3">
                              <a:lumMod val="50000"/>
                            </a:schemeClr>
                          </a:solidFill>
                        </a:rPr>
                        <a:t>Future Work</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232031"/>
                  </a:ext>
                </a:extLst>
              </a:tr>
              <a:tr h="2092508">
                <a:tc>
                  <a:txBody>
                    <a:bodyPr/>
                    <a:lstStyle/>
                    <a:p>
                      <a:pPr algn="ctr">
                        <a:buNone/>
                      </a:pPr>
                      <a:r>
                        <a:rPr lang="en-IN" sz="1200" b="1" dirty="0"/>
                        <a:t>[1] Crime Data Analysis Using Pig with Hadoop (2016)</a:t>
                      </a:r>
                      <a:endParaRPr lang="en-IN" sz="1200"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hlinkClick r:id="rId2"/>
                        </a:rPr>
                        <a:t>Paper Link</a:t>
                      </a:r>
                      <a:endParaRPr lang="en-IN" sz="1200"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t>Arushi Jain, Vishal Bhatnagar.</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r>
                        <a:rPr lang="en-IN" sz="1200" dirty="0"/>
                        <a:t>Uses a </a:t>
                      </a:r>
                      <a:r>
                        <a:rPr lang="en-IN" sz="1200" b="1" dirty="0"/>
                        <a:t>CSV-based historical dataset</a:t>
                      </a:r>
                    </a:p>
                    <a:p>
                      <a:pPr lvl="0"/>
                      <a:r>
                        <a:rPr lang="en-IN" sz="1200" dirty="0"/>
                        <a:t>Limited to predefined crime analyses such as year, state, and crime type.</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r>
                        <a:rPr lang="en-IN" sz="1200" dirty="0"/>
                        <a:t>Performs broader </a:t>
                      </a:r>
                      <a:r>
                        <a:rPr lang="en-IN" sz="1200" b="1" dirty="0"/>
                        <a:t>data cleaning and transformation</a:t>
                      </a:r>
                      <a:r>
                        <a:rPr lang="en-IN" sz="1200" dirty="0"/>
                        <a:t> </a:t>
                      </a:r>
                    </a:p>
                    <a:p>
                      <a:pPr lvl="0"/>
                      <a:r>
                        <a:rPr lang="en-IN" sz="1200" dirty="0"/>
                        <a:t>Extend analysis to a fully distributed Hadoop cluster and other sectors.</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965218"/>
                  </a:ext>
                </a:extLst>
              </a:tr>
              <a:tr h="1173735">
                <a:tc>
                  <a:txBody>
                    <a:bodyPr/>
                    <a:lstStyle/>
                    <a:p>
                      <a:pPr algn="ctr">
                        <a:buNone/>
                      </a:pPr>
                      <a:r>
                        <a:rPr lang="en-IN" sz="1200" b="1" dirty="0"/>
                        <a:t>[2] </a:t>
                      </a:r>
                      <a:r>
                        <a:rPr lang="en-US" sz="1200" b="1" dirty="0"/>
                        <a:t>Design and Analysis of Machine Learning Algorithms for the Reduction of Crime Rates in India (2020)</a:t>
                      </a:r>
                      <a:endParaRPr lang="en-IN" sz="1200" b="1"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dirty="0">
                          <a:hlinkClick r:id="rId3"/>
                        </a:rPr>
                        <a:t>Paper Link</a:t>
                      </a:r>
                      <a:endParaRPr lang="en-IN" sz="1200"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t>Shraddha Ramdas Bandekar, C. Vijayalakshmi</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t>The analysis mainly focuses on murder as the dominant crime attribute, limiting analysis of other crime types.</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t>Develop an optimization model to improve crime-rate reduction and decision-making.</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7149940"/>
                  </a:ext>
                </a:extLst>
              </a:tr>
              <a:tr h="1844749">
                <a:tc>
                  <a:txBody>
                    <a:bodyPr/>
                    <a:lstStyle/>
                    <a:p>
                      <a:pPr algn="ctr">
                        <a:buNone/>
                      </a:pPr>
                      <a:r>
                        <a:rPr lang="en-IN" sz="1200" b="1" dirty="0"/>
                        <a:t>[3] Towards </a:t>
                      </a:r>
                      <a:r>
                        <a:rPr lang="en-IN" sz="1200" b="1" dirty="0" err="1"/>
                        <a:t>spatio</a:t>
                      </a:r>
                      <a:r>
                        <a:rPr lang="en-IN" sz="1200" b="1" dirty="0"/>
                        <a:t>-temporal crime events prediction</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hlinkClick r:id="rId4"/>
                        </a:rPr>
                        <a:t>Paper Link</a:t>
                      </a:r>
                      <a:endParaRPr lang="en-IN" sz="1200"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t>Jawaher Alghamdi, Thair Al-</a:t>
                      </a:r>
                      <a:r>
                        <a:rPr lang="en-IN" sz="1200" dirty="0" err="1"/>
                        <a:t>Dala’in</a:t>
                      </a:r>
                      <a:endParaRPr lang="en-IN" sz="1200"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Drawback:</a:t>
                      </a:r>
                      <a:r>
                        <a:rPr lang="en-IN" sz="1200" dirty="0"/>
                        <a:t> The model uses only historical crime data from </a:t>
                      </a:r>
                      <a:r>
                        <a:rPr lang="en-IN" sz="1200" b="1" dirty="0"/>
                        <a:t>2014–2016</a:t>
                      </a:r>
                      <a:r>
                        <a:rPr lang="en-IN" sz="1200" dirty="0"/>
                        <a:t>, limiting its ability to reflect recent crime patterns.</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t>We can improve this by using </a:t>
                      </a:r>
                      <a:r>
                        <a:rPr lang="en-IN" sz="1200" b="1" dirty="0"/>
                        <a:t>more recent and continuously updated crime data</a:t>
                      </a:r>
                      <a:r>
                        <a:rPr lang="en-IN" sz="1200" dirty="0"/>
                        <a:t>, allowing the system to provide more accurate and up-to-date crime predictions.</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1393881"/>
                  </a:ext>
                </a:extLst>
              </a:tr>
            </a:tbl>
          </a:graphicData>
        </a:graphic>
      </p:graphicFrame>
      <p:sp>
        <p:nvSpPr>
          <p:cNvPr id="5" name="Title 1">
            <a:extLst>
              <a:ext uri="{FF2B5EF4-FFF2-40B4-BE49-F238E27FC236}">
                <a16:creationId xmlns:a16="http://schemas.microsoft.com/office/drawing/2014/main" id="{ED673E4D-F22F-FDA7-775D-4382D4DB9A24}"/>
              </a:ext>
            </a:extLst>
          </p:cNvPr>
          <p:cNvSpPr>
            <a:spLocks noGrp="1"/>
          </p:cNvSpPr>
          <p:nvPr>
            <p:ph type="title"/>
          </p:nvPr>
        </p:nvSpPr>
        <p:spPr>
          <a:xfrm>
            <a:off x="761999" y="65138"/>
            <a:ext cx="4232788" cy="680884"/>
          </a:xfrm>
        </p:spPr>
        <p:txBody>
          <a:bodyPr>
            <a:normAutofit fontScale="90000"/>
          </a:bodyPr>
          <a:lstStyle/>
          <a:p>
            <a:r>
              <a:rPr lang="en-IN" dirty="0"/>
              <a:t>Literature survey</a:t>
            </a:r>
            <a:br>
              <a:rPr lang="en-IN" dirty="0"/>
            </a:br>
            <a:endParaRPr lang="en-IN" sz="4800" dirty="0">
              <a:solidFill>
                <a:schemeClr val="tx1"/>
              </a:solidFill>
            </a:endParaRPr>
          </a:p>
        </p:txBody>
      </p:sp>
    </p:spTree>
    <p:extLst>
      <p:ext uri="{BB962C8B-B14F-4D97-AF65-F5344CB8AC3E}">
        <p14:creationId xmlns:p14="http://schemas.microsoft.com/office/powerpoint/2010/main" val="2501404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5AFAD-8490-B55C-886B-75AD178B4ED8}"/>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E74A1E7-82A0-5BD8-DA0B-6D39441B6460}"/>
              </a:ext>
            </a:extLst>
          </p:cNvPr>
          <p:cNvGraphicFramePr>
            <a:graphicFrameLocks noGrp="1"/>
          </p:cNvGraphicFramePr>
          <p:nvPr>
            <p:extLst>
              <p:ext uri="{D42A27DB-BD31-4B8C-83A1-F6EECF244321}">
                <p14:modId xmlns:p14="http://schemas.microsoft.com/office/powerpoint/2010/main" val="4117993963"/>
              </p:ext>
            </p:extLst>
          </p:nvPr>
        </p:nvGraphicFramePr>
        <p:xfrm>
          <a:off x="1202969" y="850597"/>
          <a:ext cx="10526913" cy="5402718"/>
        </p:xfrm>
        <a:graphic>
          <a:graphicData uri="http://schemas.openxmlformats.org/drawingml/2006/table">
            <a:tbl>
              <a:tblPr/>
              <a:tblGrid>
                <a:gridCol w="2110383">
                  <a:extLst>
                    <a:ext uri="{9D8B030D-6E8A-4147-A177-3AD203B41FA5}">
                      <a16:colId xmlns:a16="http://schemas.microsoft.com/office/drawing/2014/main" val="1399075416"/>
                    </a:ext>
                  </a:extLst>
                </a:gridCol>
                <a:gridCol w="2100382">
                  <a:extLst>
                    <a:ext uri="{9D8B030D-6E8A-4147-A177-3AD203B41FA5}">
                      <a16:colId xmlns:a16="http://schemas.microsoft.com/office/drawing/2014/main" val="3591117051"/>
                    </a:ext>
                  </a:extLst>
                </a:gridCol>
                <a:gridCol w="1963843">
                  <a:extLst>
                    <a:ext uri="{9D8B030D-6E8A-4147-A177-3AD203B41FA5}">
                      <a16:colId xmlns:a16="http://schemas.microsoft.com/office/drawing/2014/main" val="2610608315"/>
                    </a:ext>
                  </a:extLst>
                </a:gridCol>
                <a:gridCol w="2246922">
                  <a:extLst>
                    <a:ext uri="{9D8B030D-6E8A-4147-A177-3AD203B41FA5}">
                      <a16:colId xmlns:a16="http://schemas.microsoft.com/office/drawing/2014/main" val="208034176"/>
                    </a:ext>
                  </a:extLst>
                </a:gridCol>
                <a:gridCol w="2105383">
                  <a:extLst>
                    <a:ext uri="{9D8B030D-6E8A-4147-A177-3AD203B41FA5}">
                      <a16:colId xmlns:a16="http://schemas.microsoft.com/office/drawing/2014/main" val="94488662"/>
                    </a:ext>
                  </a:extLst>
                </a:gridCol>
              </a:tblGrid>
              <a:tr h="254345">
                <a:tc>
                  <a:txBody>
                    <a:bodyPr/>
                    <a:lstStyle/>
                    <a:p>
                      <a:pPr algn="ctr">
                        <a:buNone/>
                      </a:pPr>
                      <a:r>
                        <a:rPr lang="en-IN" sz="1200" b="1">
                          <a:solidFill>
                            <a:schemeClr val="accent3">
                              <a:lumMod val="50000"/>
                            </a:schemeClr>
                          </a:solidFill>
                        </a:rPr>
                        <a:t>Paper Ref</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a:solidFill>
                            <a:schemeClr val="accent3">
                              <a:lumMod val="50000"/>
                            </a:schemeClr>
                          </a:solidFill>
                        </a:rPr>
                        <a:t>Link</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a:solidFill>
                            <a:schemeClr val="accent3">
                              <a:lumMod val="50000"/>
                            </a:schemeClr>
                          </a:solidFill>
                        </a:rPr>
                        <a:t>Authors</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a:solidFill>
                            <a:schemeClr val="accent3">
                              <a:lumMod val="50000"/>
                            </a:schemeClr>
                          </a:solidFill>
                        </a:rPr>
                        <a:t>Drawback</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a:solidFill>
                            <a:schemeClr val="accent3">
                              <a:lumMod val="50000"/>
                            </a:schemeClr>
                          </a:solidFill>
                        </a:rPr>
                        <a:t>Future Work</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232031"/>
                  </a:ext>
                </a:extLst>
              </a:tr>
              <a:tr h="1629160">
                <a:tc>
                  <a:txBody>
                    <a:bodyPr/>
                    <a:lstStyle/>
                    <a:p>
                      <a:pPr algn="ctr">
                        <a:buNone/>
                      </a:pPr>
                      <a:r>
                        <a:rPr lang="en-IN" sz="1200" b="1" dirty="0"/>
                        <a:t>[4] Interpretable machine learning models for crime prediction</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dirty="0">
                          <a:hlinkClick r:id="rId2"/>
                        </a:rPr>
                        <a:t>Paper Link</a:t>
                      </a:r>
                      <a:endParaRPr lang="en-IN" sz="1200"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t>Xu Zhang, Lin Liu, </a:t>
                      </a:r>
                      <a:r>
                        <a:rPr lang="en-IN" sz="1200" dirty="0" err="1"/>
                        <a:t>Minxuan</a:t>
                      </a:r>
                      <a:r>
                        <a:rPr lang="en-IN" sz="1200" dirty="0"/>
                        <a:t> Lan, </a:t>
                      </a:r>
                      <a:r>
                        <a:rPr lang="en-IN" sz="1200" dirty="0" err="1"/>
                        <a:t>Guangwen</a:t>
                      </a:r>
                      <a:r>
                        <a:rPr lang="en-IN" sz="1200" dirty="0"/>
                        <a:t> Song, Luzi Xiao, Jianguo Chen</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t>The model is tested only in </a:t>
                      </a:r>
                      <a:r>
                        <a:rPr lang="en-IN" sz="1200" b="1" dirty="0"/>
                        <a:t>one police-station area (XT </a:t>
                      </a:r>
                      <a:r>
                        <a:rPr lang="en-IN" sz="1200" b="1" dirty="0" err="1"/>
                        <a:t>Paichusuo</a:t>
                      </a:r>
                      <a:r>
                        <a:rPr lang="en-IN" sz="1200" b="1" dirty="0"/>
                        <a:t>) covering 7.42 km²</a:t>
                      </a:r>
                      <a:r>
                        <a:rPr lang="en-IN" sz="1200" dirty="0"/>
                        <a:t>, so its results may not generalize to other cities or regions.</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t>Expand the model to multiple cities/regions</a:t>
                      </a:r>
                      <a:r>
                        <a:rPr lang="en-IN" sz="1200" dirty="0"/>
                        <a:t> and use more diverse datasets so that the crime prediction model can work effectively across different geographical and demographic conditions.</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965218"/>
                  </a:ext>
                </a:extLst>
              </a:tr>
              <a:tr h="1629160">
                <a:tc>
                  <a:txBody>
                    <a:bodyPr/>
                    <a:lstStyle/>
                    <a:p>
                      <a:pPr algn="ctr">
                        <a:buNone/>
                      </a:pPr>
                      <a:r>
                        <a:rPr lang="en-US" sz="1200" b="1" dirty="0"/>
                        <a:t>[5] Crime Forecasting: A Machine Learning and Computer Vision Approach to Crime Prediction and Prevention (2021)</a:t>
                      </a:r>
                      <a:endParaRPr lang="en-IN" sz="1200" b="1"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dirty="0">
                          <a:hlinkClick r:id="rId3"/>
                        </a:rPr>
                        <a:t>Paper Link</a:t>
                      </a:r>
                      <a:endParaRPr lang="en-IN" sz="1200"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t>Neil Shah, Nandish Bhagat, Manan Shah</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t>real-time crime forecasting is difficult to achieve reliably in practice because crime is a highly complex system.</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0" dirty="0"/>
                        <a:t>Extend the model using larger, diverse real-world crime datasets to improve reliability and evaluate its generalization across different locations and crime patterns.</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7149940"/>
                  </a:ext>
                </a:extLst>
              </a:tr>
              <a:tr h="1890053">
                <a:tc>
                  <a:txBody>
                    <a:bodyPr/>
                    <a:lstStyle/>
                    <a:p>
                      <a:pPr algn="ctr">
                        <a:buNone/>
                      </a:pPr>
                      <a:r>
                        <a:rPr lang="en-US" sz="1200" b="1" dirty="0"/>
                        <a:t>[6]</a:t>
                      </a:r>
                      <a:r>
                        <a:rPr lang="en-IN" sz="1200" b="1" dirty="0"/>
                        <a:t> Crime Prediction Methods Based on Machine Learning: A Survey</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dirty="0">
                          <a:hlinkClick r:id="rId4"/>
                        </a:rPr>
                        <a:t>Paper Link</a:t>
                      </a:r>
                      <a:endParaRPr lang="en-IN" sz="1200"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err="1"/>
                        <a:t>Junxiang</a:t>
                      </a:r>
                      <a:r>
                        <a:rPr lang="en-IN" sz="1200" dirty="0"/>
                        <a:t> Yin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dirty="0"/>
                        <a:t>Traditional linear models may have low accuracy when crime patterns are complex and non-linear.</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t>Implement and compare multiple ML models to improve prediction accuracy for complex crime patterns.</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1393881"/>
                  </a:ext>
                </a:extLst>
              </a:tr>
            </a:tbl>
          </a:graphicData>
        </a:graphic>
      </p:graphicFrame>
      <p:sp>
        <p:nvSpPr>
          <p:cNvPr id="5" name="Title 1">
            <a:extLst>
              <a:ext uri="{FF2B5EF4-FFF2-40B4-BE49-F238E27FC236}">
                <a16:creationId xmlns:a16="http://schemas.microsoft.com/office/drawing/2014/main" id="{0DEAA3F9-15CF-F54D-84A6-086FB360EA30}"/>
              </a:ext>
            </a:extLst>
          </p:cNvPr>
          <p:cNvSpPr>
            <a:spLocks noGrp="1"/>
          </p:cNvSpPr>
          <p:nvPr>
            <p:ph type="title"/>
          </p:nvPr>
        </p:nvSpPr>
        <p:spPr>
          <a:xfrm>
            <a:off x="840657" y="0"/>
            <a:ext cx="4232788" cy="680884"/>
          </a:xfrm>
        </p:spPr>
        <p:txBody>
          <a:bodyPr>
            <a:normAutofit fontScale="90000"/>
          </a:bodyPr>
          <a:lstStyle/>
          <a:p>
            <a:r>
              <a:rPr lang="en-IN" dirty="0"/>
              <a:t>Literature survey</a:t>
            </a:r>
            <a:br>
              <a:rPr lang="en-IN" dirty="0"/>
            </a:br>
            <a:endParaRPr lang="en-IN" sz="4800" dirty="0">
              <a:solidFill>
                <a:schemeClr val="tx1"/>
              </a:solidFill>
            </a:endParaRPr>
          </a:p>
        </p:txBody>
      </p:sp>
    </p:spTree>
    <p:extLst>
      <p:ext uri="{BB962C8B-B14F-4D97-AF65-F5344CB8AC3E}">
        <p14:creationId xmlns:p14="http://schemas.microsoft.com/office/powerpoint/2010/main" val="3394986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3699A-ED56-E381-7E1D-0785BB6CBE98}"/>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942C346-82A6-2E73-D1BB-70091CC55FA5}"/>
              </a:ext>
            </a:extLst>
          </p:cNvPr>
          <p:cNvGraphicFramePr>
            <a:graphicFrameLocks noGrp="1"/>
          </p:cNvGraphicFramePr>
          <p:nvPr>
            <p:extLst>
              <p:ext uri="{D42A27DB-BD31-4B8C-83A1-F6EECF244321}">
                <p14:modId xmlns:p14="http://schemas.microsoft.com/office/powerpoint/2010/main" val="3708047380"/>
              </p:ext>
            </p:extLst>
          </p:nvPr>
        </p:nvGraphicFramePr>
        <p:xfrm>
          <a:off x="858839" y="83594"/>
          <a:ext cx="11087355" cy="6624452"/>
        </p:xfrm>
        <a:graphic>
          <a:graphicData uri="http://schemas.openxmlformats.org/drawingml/2006/table">
            <a:tbl>
              <a:tblPr/>
              <a:tblGrid>
                <a:gridCol w="2222737">
                  <a:extLst>
                    <a:ext uri="{9D8B030D-6E8A-4147-A177-3AD203B41FA5}">
                      <a16:colId xmlns:a16="http://schemas.microsoft.com/office/drawing/2014/main" val="1399075416"/>
                    </a:ext>
                  </a:extLst>
                </a:gridCol>
                <a:gridCol w="2212206">
                  <a:extLst>
                    <a:ext uri="{9D8B030D-6E8A-4147-A177-3AD203B41FA5}">
                      <a16:colId xmlns:a16="http://schemas.microsoft.com/office/drawing/2014/main" val="3591117051"/>
                    </a:ext>
                  </a:extLst>
                </a:gridCol>
                <a:gridCol w="2068396">
                  <a:extLst>
                    <a:ext uri="{9D8B030D-6E8A-4147-A177-3AD203B41FA5}">
                      <a16:colId xmlns:a16="http://schemas.microsoft.com/office/drawing/2014/main" val="2610608315"/>
                    </a:ext>
                  </a:extLst>
                </a:gridCol>
                <a:gridCol w="2366545">
                  <a:extLst>
                    <a:ext uri="{9D8B030D-6E8A-4147-A177-3AD203B41FA5}">
                      <a16:colId xmlns:a16="http://schemas.microsoft.com/office/drawing/2014/main" val="208034176"/>
                    </a:ext>
                  </a:extLst>
                </a:gridCol>
                <a:gridCol w="2217471">
                  <a:extLst>
                    <a:ext uri="{9D8B030D-6E8A-4147-A177-3AD203B41FA5}">
                      <a16:colId xmlns:a16="http://schemas.microsoft.com/office/drawing/2014/main" val="94488662"/>
                    </a:ext>
                  </a:extLst>
                </a:gridCol>
              </a:tblGrid>
              <a:tr h="200469">
                <a:tc>
                  <a:txBody>
                    <a:bodyPr/>
                    <a:lstStyle/>
                    <a:p>
                      <a:pPr algn="ctr">
                        <a:buNone/>
                      </a:pPr>
                      <a:r>
                        <a:rPr lang="en-IN" sz="1200" b="1">
                          <a:solidFill>
                            <a:schemeClr val="accent3">
                              <a:lumMod val="50000"/>
                            </a:schemeClr>
                          </a:solidFill>
                        </a:rPr>
                        <a:t>Paper Ref</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a:solidFill>
                            <a:schemeClr val="accent3">
                              <a:lumMod val="50000"/>
                            </a:schemeClr>
                          </a:solidFill>
                        </a:rPr>
                        <a:t>Link</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a:solidFill>
                            <a:schemeClr val="accent3">
                              <a:lumMod val="50000"/>
                            </a:schemeClr>
                          </a:solidFill>
                        </a:rPr>
                        <a:t>Authors</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a:solidFill>
                            <a:schemeClr val="accent3">
                              <a:lumMod val="50000"/>
                            </a:schemeClr>
                          </a:solidFill>
                        </a:rPr>
                        <a:t>Drawback</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a:solidFill>
                            <a:schemeClr val="accent3">
                              <a:lumMod val="50000"/>
                            </a:schemeClr>
                          </a:solidFill>
                        </a:rPr>
                        <a:t>Future Work</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232031"/>
                  </a:ext>
                </a:extLst>
              </a:tr>
              <a:tr h="1643920">
                <a:tc>
                  <a:txBody>
                    <a:bodyPr/>
                    <a:lstStyle/>
                    <a:p>
                      <a:pPr>
                        <a:buNone/>
                      </a:pPr>
                      <a:r>
                        <a:rPr lang="en-IN" sz="1200" b="1" dirty="0"/>
                        <a:t>[7] Multi-layer Data Integration Technique for Combining Heterogeneous Crime Data</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dirty="0">
                          <a:hlinkClick r:id="rId2"/>
                        </a:rPr>
                        <a:t>Paper Link</a:t>
                      </a:r>
                      <a:endParaRPr lang="en-IN" sz="1200"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dirty="0"/>
                        <a:t>Sadaf Ahmed, Monica Gentili, Daniel Sierra-Sosa, Adel S. </a:t>
                      </a:r>
                      <a:r>
                        <a:rPr lang="en-IN" sz="1200" dirty="0" err="1"/>
                        <a:t>Elmaghraby</a:t>
                      </a:r>
                      <a:endParaRPr lang="en-IN" sz="1200"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dirty="0"/>
                        <a:t>The model can produce false negatives, potentially missing human trafficking cases.</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Test different time-window lengths to improve prediction accuracy.</a:t>
                      </a:r>
                    </a:p>
                    <a:p>
                      <a:pPr>
                        <a:buNone/>
                      </a:pPr>
                      <a:endParaRPr lang="en-IN" sz="1200"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965218"/>
                  </a:ext>
                </a:extLst>
              </a:tr>
              <a:tr h="16439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t>[8] A systematic review on spatial crime forecasting</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dirty="0">
                          <a:hlinkClick r:id="rId3"/>
                        </a:rPr>
                        <a:t>Paper Link</a:t>
                      </a:r>
                      <a:endParaRPr lang="en-IN" sz="1200"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dirty="0"/>
                        <a:t>O. </a:t>
                      </a:r>
                      <a:r>
                        <a:rPr lang="en-IN" sz="1200" dirty="0" err="1"/>
                        <a:t>Kounadi</a:t>
                      </a:r>
                      <a:r>
                        <a:rPr lang="en-IN" sz="1200" dirty="0"/>
                        <a:t>, A. Ristea, A. Araujo, et al.</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dirty="0"/>
                        <a:t>Reliance on historical data may reduce the effectiveness of models when crime patterns change over time.</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dirty="0"/>
                        <a:t>Incorporate continuously updated and recent data to better adapt to changing crime patterns.</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7149940"/>
                  </a:ext>
                </a:extLst>
              </a:tr>
              <a:tr h="16439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t>[9] AA survey on crime analysis and prediction</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dirty="0">
                          <a:hlinkClick r:id="rId4"/>
                        </a:rPr>
                        <a:t>Paper Link</a:t>
                      </a:r>
                      <a:endParaRPr lang="en-IN" sz="1200"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t>Ashly Thomas, N. V. Sobhana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t>individual prediction techniques do not provide sufficiently accurate results when used alone.</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a:t>Develop more effective models capable of handling the </a:t>
                      </a:r>
                      <a:r>
                        <a:rPr lang="en-IN" sz="1200" b="1" dirty="0"/>
                        <a:t>complexity and variability of crime patterns</a:t>
                      </a:r>
                      <a:r>
                        <a:rPr lang="en-IN" sz="1200" dirty="0"/>
                        <a:t>. </a:t>
                      </a:r>
                    </a:p>
                    <a:p>
                      <a:pPr algn="ctr">
                        <a:buNone/>
                      </a:pPr>
                      <a:endParaRPr lang="en-IN" sz="1200"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1393881"/>
                  </a:ext>
                </a:extLst>
              </a:tr>
              <a:tr h="14896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t>[10] Crime Prediction &amp; Monitoring Framework Based on Spatial Analysis (2018)</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dirty="0">
                          <a:hlinkClick r:id="rId5"/>
                        </a:rPr>
                        <a:t>Paper Link</a:t>
                      </a:r>
                      <a:endParaRPr lang="en-IN" sz="1200" dirty="0"/>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t>Hitesh Kumar Reddy </a:t>
                      </a:r>
                      <a:r>
                        <a:rPr lang="en-IN" sz="1200" dirty="0" err="1"/>
                        <a:t>ToppiReddy</a:t>
                      </a:r>
                      <a:r>
                        <a:rPr lang="en-IN" sz="1200" dirty="0"/>
                        <a:t>, Bhavna Saini, Ginika Mahajan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t>The prediction is based mainly on location and date, so it does not consider many other factors that can influence crime occurrence.</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dirty="0"/>
                        <a:t>Incorporate crime data and update the system frequently to improve the freshness and reliability of predictions.</a:t>
                      </a:r>
                    </a:p>
                  </a:txBody>
                  <a:tcPr marL="20120" marR="20120" marT="10060" marB="10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225145"/>
                  </a:ext>
                </a:extLst>
              </a:tr>
            </a:tbl>
          </a:graphicData>
        </a:graphic>
      </p:graphicFrame>
    </p:spTree>
    <p:extLst>
      <p:ext uri="{BB962C8B-B14F-4D97-AF65-F5344CB8AC3E}">
        <p14:creationId xmlns:p14="http://schemas.microsoft.com/office/powerpoint/2010/main" val="2398316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02A50-25A9-081D-1E29-2E64767EDB0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DAF4E49-95FF-2517-2F08-56DD408F7DF9}"/>
              </a:ext>
            </a:extLst>
          </p:cNvPr>
          <p:cNvSpPr>
            <a:spLocks noGrp="1"/>
          </p:cNvSpPr>
          <p:nvPr>
            <p:ph type="title"/>
          </p:nvPr>
        </p:nvSpPr>
        <p:spPr>
          <a:xfrm>
            <a:off x="840656" y="0"/>
            <a:ext cx="4399938" cy="680884"/>
          </a:xfrm>
        </p:spPr>
        <p:txBody>
          <a:bodyPr>
            <a:normAutofit fontScale="90000"/>
          </a:bodyPr>
          <a:lstStyle/>
          <a:p>
            <a:r>
              <a:rPr lang="en-IN" sz="4000" dirty="0">
                <a:solidFill>
                  <a:schemeClr val="tx1"/>
                </a:solidFill>
              </a:rPr>
              <a:t>System Architecture </a:t>
            </a:r>
            <a:endParaRPr lang="en-IN" sz="4800" dirty="0">
              <a:solidFill>
                <a:schemeClr val="tx1"/>
              </a:solidFill>
            </a:endParaRPr>
          </a:p>
        </p:txBody>
      </p:sp>
      <p:pic>
        <p:nvPicPr>
          <p:cNvPr id="4" name="Picture 3">
            <a:extLst>
              <a:ext uri="{FF2B5EF4-FFF2-40B4-BE49-F238E27FC236}">
                <a16:creationId xmlns:a16="http://schemas.microsoft.com/office/drawing/2014/main" id="{363D99C2-78E5-23F2-0475-6977E75C7E20}"/>
              </a:ext>
            </a:extLst>
          </p:cNvPr>
          <p:cNvPicPr>
            <a:picLocks noChangeAspect="1"/>
          </p:cNvPicPr>
          <p:nvPr/>
        </p:nvPicPr>
        <p:blipFill>
          <a:blip r:embed="rId2"/>
          <a:stretch>
            <a:fillRect/>
          </a:stretch>
        </p:blipFill>
        <p:spPr>
          <a:xfrm>
            <a:off x="840656" y="923280"/>
            <a:ext cx="10962968" cy="5011439"/>
          </a:xfrm>
          <a:prstGeom prst="rect">
            <a:avLst/>
          </a:prstGeom>
        </p:spPr>
      </p:pic>
    </p:spTree>
    <p:extLst>
      <p:ext uri="{BB962C8B-B14F-4D97-AF65-F5344CB8AC3E}">
        <p14:creationId xmlns:p14="http://schemas.microsoft.com/office/powerpoint/2010/main" val="418020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DB1CD-F069-85D2-F9FC-3CEF22754B7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75BA314-FC3F-79B9-25D9-13AE2D978C3D}"/>
              </a:ext>
            </a:extLst>
          </p:cNvPr>
          <p:cNvSpPr txBox="1"/>
          <p:nvPr/>
        </p:nvSpPr>
        <p:spPr>
          <a:xfrm>
            <a:off x="4257367" y="2733368"/>
            <a:ext cx="3963136" cy="1015663"/>
          </a:xfrm>
          <a:prstGeom prst="rect">
            <a:avLst/>
          </a:prstGeom>
          <a:noFill/>
        </p:spPr>
        <p:txBody>
          <a:bodyPr wrap="none" rtlCol="0">
            <a:spAutoFit/>
          </a:bodyPr>
          <a:lstStyle/>
          <a:p>
            <a:r>
              <a:rPr lang="en-US" sz="6000" dirty="0"/>
              <a:t>THANK YOU</a:t>
            </a:r>
            <a:endParaRPr lang="en-IN" sz="6000" dirty="0"/>
          </a:p>
        </p:txBody>
      </p:sp>
    </p:spTree>
    <p:extLst>
      <p:ext uri="{BB962C8B-B14F-4D97-AF65-F5344CB8AC3E}">
        <p14:creationId xmlns:p14="http://schemas.microsoft.com/office/powerpoint/2010/main" val="1894371193"/>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{E923C9BF-DCB0-4499-9C11-1B43914A2A89}TFc3084226-2d0c-440f-9f46-6b48c7a7f670e6ba4a85-fc4a2881d6b3</Template>
  <TotalTime>318</TotalTime>
  <Words>1389</Words>
  <Application>Microsoft Office PowerPoint</Application>
  <PresentationFormat>Widescreen</PresentationFormat>
  <Paragraphs>106</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 Display</vt:lpstr>
      <vt:lpstr>Arial</vt:lpstr>
      <vt:lpstr>Arial Rounded MT Bold</vt:lpstr>
      <vt:lpstr>Canva Sans Bold</vt:lpstr>
      <vt:lpstr>Franklin Gothic Book</vt:lpstr>
      <vt:lpstr>Inter</vt:lpstr>
      <vt:lpstr>Lato</vt:lpstr>
      <vt:lpstr>Lato Bold</vt:lpstr>
      <vt:lpstr>Crop</vt:lpstr>
      <vt:lpstr>PowerPoint Presentation</vt:lpstr>
      <vt:lpstr>PowerPoint Presentation</vt:lpstr>
      <vt:lpstr>Abstract</vt:lpstr>
      <vt:lpstr>Introduction</vt:lpstr>
      <vt:lpstr>Objective</vt:lpstr>
      <vt:lpstr>Literature survey </vt:lpstr>
      <vt:lpstr>Literature survey </vt:lpstr>
      <vt:lpstr>PowerPoint Presentation</vt:lpstr>
      <vt:lpstr>System Architecture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Varshitha Manduri</dc:creator>
  <cp:lastModifiedBy>Varshitha Manduri</cp:lastModifiedBy>
  <cp:revision>7</cp:revision>
  <dcterms:created xsi:type="dcterms:W3CDTF">2026-08-18T16:18:53Z</dcterms:created>
  <dcterms:modified xsi:type="dcterms:W3CDTF">2026-08-26T04:15:27Z</dcterms:modified>
</cp:coreProperties>
</file>